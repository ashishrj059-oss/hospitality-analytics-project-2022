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hhaaaa Mundhe" userId="af1c3ee44c20cd10" providerId="LiveId" clId="{86B57A45-4B75-4460-AA57-0026869F8BD1}"/>
    <pc:docChg chg="custSel addSld modSld">
      <pc:chgData name="Yashhhaaaa Mundhe" userId="af1c3ee44c20cd10" providerId="LiveId" clId="{86B57A45-4B75-4460-AA57-0026869F8BD1}" dt="2026-09-16T13:24:36.989" v="87" actId="14100"/>
      <pc:docMkLst>
        <pc:docMk/>
      </pc:docMkLst>
      <pc:sldChg chg="modSp mod">
        <pc:chgData name="Yashhhaaaa Mundhe" userId="af1c3ee44c20cd10" providerId="LiveId" clId="{86B57A45-4B75-4460-AA57-0026869F8BD1}" dt="2026-09-16T11:43:48.996" v="82" actId="1076"/>
        <pc:sldMkLst>
          <pc:docMk/>
          <pc:sldMk cId="2997608683" sldId="256"/>
        </pc:sldMkLst>
        <pc:spChg chg="mod">
          <ac:chgData name="Yashhhaaaa Mundhe" userId="af1c3ee44c20cd10" providerId="LiveId" clId="{86B57A45-4B75-4460-AA57-0026869F8BD1}" dt="2026-09-16T11:43:48.996" v="82" actId="1076"/>
          <ac:spMkLst>
            <pc:docMk/>
            <pc:sldMk cId="2997608683" sldId="256"/>
            <ac:spMk id="2" creationId="{5805F558-F375-FB8F-3C56-788868575554}"/>
          </ac:spMkLst>
        </pc:spChg>
        <pc:picChg chg="mod">
          <ac:chgData name="Yashhhaaaa Mundhe" userId="af1c3ee44c20cd10" providerId="LiveId" clId="{86B57A45-4B75-4460-AA57-0026869F8BD1}" dt="2026-09-16T11:43:42.785" v="81" actId="1076"/>
          <ac:picMkLst>
            <pc:docMk/>
            <pc:sldMk cId="2997608683" sldId="256"/>
            <ac:picMk id="11" creationId="{0BCA2F7A-443C-8C0E-FAB0-E85E2C6771E8}"/>
          </ac:picMkLst>
        </pc:picChg>
      </pc:sldChg>
      <pc:sldChg chg="modSp mod">
        <pc:chgData name="Yashhhaaaa Mundhe" userId="af1c3ee44c20cd10" providerId="LiveId" clId="{86B57A45-4B75-4460-AA57-0026869F8BD1}" dt="2026-09-16T04:16:11.557" v="78" actId="1076"/>
        <pc:sldMkLst>
          <pc:docMk/>
          <pc:sldMk cId="1985506012" sldId="257"/>
        </pc:sldMkLst>
        <pc:spChg chg="mod">
          <ac:chgData name="Yashhhaaaa Mundhe" userId="af1c3ee44c20cd10" providerId="LiveId" clId="{86B57A45-4B75-4460-AA57-0026869F8BD1}" dt="2026-09-16T04:16:11.557" v="78" actId="1076"/>
          <ac:spMkLst>
            <pc:docMk/>
            <pc:sldMk cId="1985506012" sldId="257"/>
            <ac:spMk id="3" creationId="{4ACEF3C3-04F1-59A5-3D3F-C90C5EC32C12}"/>
          </ac:spMkLst>
        </pc:spChg>
      </pc:sldChg>
      <pc:sldChg chg="addSp delSp modSp mod">
        <pc:chgData name="Yashhhaaaa Mundhe" userId="af1c3ee44c20cd10" providerId="LiveId" clId="{86B57A45-4B75-4460-AA57-0026869F8BD1}" dt="2026-09-16T13:24:36.989" v="87" actId="14100"/>
        <pc:sldMkLst>
          <pc:docMk/>
          <pc:sldMk cId="2569697591" sldId="259"/>
        </pc:sldMkLst>
        <pc:spChg chg="del">
          <ac:chgData name="Yashhhaaaa Mundhe" userId="af1c3ee44c20cd10" providerId="LiveId" clId="{86B57A45-4B75-4460-AA57-0026869F8BD1}" dt="2026-09-16T04:01:26.576" v="0" actId="22"/>
          <ac:spMkLst>
            <pc:docMk/>
            <pc:sldMk cId="2569697591" sldId="259"/>
            <ac:spMk id="3" creationId="{FC8E91F2-9400-76A1-B369-C6A7296C29EA}"/>
          </ac:spMkLst>
        </pc:spChg>
        <pc:spChg chg="add mod">
          <ac:chgData name="Yashhhaaaa Mundhe" userId="af1c3ee44c20cd10" providerId="LiveId" clId="{86B57A45-4B75-4460-AA57-0026869F8BD1}" dt="2026-09-16T13:24:25.065" v="84" actId="1076"/>
          <ac:spMkLst>
            <pc:docMk/>
            <pc:sldMk cId="2569697591" sldId="259"/>
            <ac:spMk id="13" creationId="{B1D2539C-66BD-C2CF-3D59-289B0720C113}"/>
          </ac:spMkLst>
        </pc:spChg>
        <pc:spChg chg="add mod">
          <ac:chgData name="Yashhhaaaa Mundhe" userId="af1c3ee44c20cd10" providerId="LiveId" clId="{86B57A45-4B75-4460-AA57-0026869F8BD1}" dt="2026-09-16T04:10:50.990" v="59" actId="1076"/>
          <ac:spMkLst>
            <pc:docMk/>
            <pc:sldMk cId="2569697591" sldId="259"/>
            <ac:spMk id="15" creationId="{E842B4D8-8790-4AFC-5EDD-4C3D548B3364}"/>
          </ac:spMkLst>
        </pc:spChg>
        <pc:spChg chg="add mod">
          <ac:chgData name="Yashhhaaaa Mundhe" userId="af1c3ee44c20cd10" providerId="LiveId" clId="{86B57A45-4B75-4460-AA57-0026869F8BD1}" dt="2026-09-16T04:11:38.055" v="66" actId="1076"/>
          <ac:spMkLst>
            <pc:docMk/>
            <pc:sldMk cId="2569697591" sldId="259"/>
            <ac:spMk id="17" creationId="{7947D26F-ABCE-B941-C22C-9D4DBCC0A304}"/>
          </ac:spMkLst>
        </pc:spChg>
        <pc:picChg chg="add mod ord">
          <ac:chgData name="Yashhhaaaa Mundhe" userId="af1c3ee44c20cd10" providerId="LiveId" clId="{86B57A45-4B75-4460-AA57-0026869F8BD1}" dt="2026-09-16T13:24:33.820" v="86" actId="14100"/>
          <ac:picMkLst>
            <pc:docMk/>
            <pc:sldMk cId="2569697591" sldId="259"/>
            <ac:picMk id="5" creationId="{F7B9A98A-D779-9B49-A733-2800911A3DAF}"/>
          </ac:picMkLst>
        </pc:picChg>
        <pc:picChg chg="add mod">
          <ac:chgData name="Yashhhaaaa Mundhe" userId="af1c3ee44c20cd10" providerId="LiveId" clId="{86B57A45-4B75-4460-AA57-0026869F8BD1}" dt="2026-09-16T13:24:36.989" v="87" actId="14100"/>
          <ac:picMkLst>
            <pc:docMk/>
            <pc:sldMk cId="2569697591" sldId="259"/>
            <ac:picMk id="7" creationId="{CE4CE56B-6656-93B6-1C76-CB33896FA6BA}"/>
          </ac:picMkLst>
        </pc:picChg>
        <pc:picChg chg="add mod">
          <ac:chgData name="Yashhhaaaa Mundhe" userId="af1c3ee44c20cd10" providerId="LiveId" clId="{86B57A45-4B75-4460-AA57-0026869F8BD1}" dt="2026-09-16T04:07:50.584" v="52" actId="14100"/>
          <ac:picMkLst>
            <pc:docMk/>
            <pc:sldMk cId="2569697591" sldId="259"/>
            <ac:picMk id="9" creationId="{1EA732F2-E74F-CBFA-0822-51D3C46715B5}"/>
          </ac:picMkLst>
        </pc:picChg>
        <pc:picChg chg="add del mod">
          <ac:chgData name="Yashhhaaaa Mundhe" userId="af1c3ee44c20cd10" providerId="LiveId" clId="{86B57A45-4B75-4460-AA57-0026869F8BD1}" dt="2026-09-16T04:06:34.207" v="36" actId="21"/>
          <ac:picMkLst>
            <pc:docMk/>
            <pc:sldMk cId="2569697591" sldId="259"/>
            <ac:picMk id="11" creationId="{22350EA3-2DC4-4239-290B-9619C6F3D962}"/>
          </ac:picMkLst>
        </pc:picChg>
        <pc:cxnChg chg="add mod">
          <ac:chgData name="Yashhhaaaa Mundhe" userId="af1c3ee44c20cd10" providerId="LiveId" clId="{86B57A45-4B75-4460-AA57-0026869F8BD1}" dt="2026-09-16T04:13:15.975" v="76" actId="1076"/>
          <ac:cxnSpMkLst>
            <pc:docMk/>
            <pc:sldMk cId="2569697591" sldId="259"/>
            <ac:cxnSpMk id="19" creationId="{7566B310-F43D-5488-B246-2A19E4C159A6}"/>
          </ac:cxnSpMkLst>
        </pc:cxnChg>
        <pc:cxnChg chg="add mod">
          <ac:chgData name="Yashhhaaaa Mundhe" userId="af1c3ee44c20cd10" providerId="LiveId" clId="{86B57A45-4B75-4460-AA57-0026869F8BD1}" dt="2026-09-16T04:13:26.148" v="77" actId="1076"/>
          <ac:cxnSpMkLst>
            <pc:docMk/>
            <pc:sldMk cId="2569697591" sldId="259"/>
            <ac:cxnSpMk id="21" creationId="{20B4871F-32B2-7DC7-F13D-929121228122}"/>
          </ac:cxnSpMkLst>
        </pc:cxnChg>
        <pc:cxnChg chg="add mod">
          <ac:chgData name="Yashhhaaaa Mundhe" userId="af1c3ee44c20cd10" providerId="LiveId" clId="{86B57A45-4B75-4460-AA57-0026869F8BD1}" dt="2026-09-16T13:24:30.544" v="85" actId="1076"/>
          <ac:cxnSpMkLst>
            <pc:docMk/>
            <pc:sldMk cId="2569697591" sldId="259"/>
            <ac:cxnSpMk id="23" creationId="{0A4D7C70-1B0A-6C44-7836-D7F385D50713}"/>
          </ac:cxnSpMkLst>
        </pc:cxnChg>
      </pc:sldChg>
      <pc:sldChg chg="addSp modSp new mod">
        <pc:chgData name="Yashhhaaaa Mundhe" userId="af1c3ee44c20cd10" providerId="LiveId" clId="{86B57A45-4B75-4460-AA57-0026869F8BD1}" dt="2026-09-16T04:12:43.512" v="74" actId="11529"/>
        <pc:sldMkLst>
          <pc:docMk/>
          <pc:sldMk cId="216335717" sldId="264"/>
        </pc:sldMkLst>
        <pc:spChg chg="add mod">
          <ac:chgData name="Yashhhaaaa Mundhe" userId="af1c3ee44c20cd10" providerId="LiveId" clId="{86B57A45-4B75-4460-AA57-0026869F8BD1}" dt="2026-09-16T04:12:35.520" v="73" actId="14100"/>
          <ac:spMkLst>
            <pc:docMk/>
            <pc:sldMk cId="216335717" sldId="264"/>
            <ac:spMk id="3" creationId="{752D9590-5BE2-F53C-C787-074D863F95DC}"/>
          </ac:spMkLst>
        </pc:spChg>
        <pc:picChg chg="add mod">
          <ac:chgData name="Yashhhaaaa Mundhe" userId="af1c3ee44c20cd10" providerId="LiveId" clId="{86B57A45-4B75-4460-AA57-0026869F8BD1}" dt="2026-09-16T04:06:47.402" v="41" actId="14100"/>
          <ac:picMkLst>
            <pc:docMk/>
            <pc:sldMk cId="216335717" sldId="264"/>
            <ac:picMk id="11" creationId="{22350EA3-2DC4-4239-290B-9619C6F3D962}"/>
          </ac:picMkLst>
        </pc:picChg>
        <pc:cxnChg chg="add">
          <ac:chgData name="Yashhhaaaa Mundhe" userId="af1c3ee44c20cd10" providerId="LiveId" clId="{86B57A45-4B75-4460-AA57-0026869F8BD1}" dt="2026-09-16T04:12:43.512" v="74" actId="11529"/>
          <ac:cxnSpMkLst>
            <pc:docMk/>
            <pc:sldMk cId="216335717" sldId="264"/>
            <ac:cxnSpMk id="5" creationId="{B4C6999A-24EE-7EB8-828F-02A44789FF6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69F8-78EC-4E49-A492-62413B48571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697C-830D-4DC4-B3F4-CA33ECEC0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227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69F8-78EC-4E49-A492-62413B48571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697C-830D-4DC4-B3F4-CA33ECEC0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338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69F8-78EC-4E49-A492-62413B48571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697C-830D-4DC4-B3F4-CA33ECEC0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349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69F8-78EC-4E49-A492-62413B48571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697C-830D-4DC4-B3F4-CA33ECEC0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73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69F8-78EC-4E49-A492-62413B48571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697C-830D-4DC4-B3F4-CA33ECEC0931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40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69F8-78EC-4E49-A492-62413B48571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697C-830D-4DC4-B3F4-CA33ECEC0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35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69F8-78EC-4E49-A492-62413B48571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697C-830D-4DC4-B3F4-CA33ECEC0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665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69F8-78EC-4E49-A492-62413B48571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697C-830D-4DC4-B3F4-CA33ECEC0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18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E0869F8-78EC-4E49-A492-62413B48571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697C-830D-4DC4-B3F4-CA33ECEC0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76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69F8-78EC-4E49-A492-62413B48571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697C-830D-4DC4-B3F4-CA33ECEC0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02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869F8-78EC-4E49-A492-62413B48571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2697C-830D-4DC4-B3F4-CA33ECEC0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71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E0869F8-78EC-4E49-A492-62413B48571F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BA2697C-830D-4DC4-B3F4-CA33ECEC0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459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5F558-F375-FB8F-3C56-788868575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52" y="1171381"/>
            <a:ext cx="10307216" cy="1113922"/>
          </a:xfrm>
        </p:spPr>
        <p:txBody>
          <a:bodyPr>
            <a:normAutofit/>
          </a:bodyPr>
          <a:lstStyle/>
          <a:p>
            <a:r>
              <a:rPr lang="en-IN" sz="4000" dirty="0"/>
              <a:t>Hospitality Analysis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EBD49-48B6-5DBE-601C-D329EC59B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6460" y="2589851"/>
            <a:ext cx="9144000" cy="2840773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Analyzing hotel bookings, revenue, occupancy and customer performance using Excel, Tableau, Power BI &amp; SQL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Team Members: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Ashish Raj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Yash Mundhe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Manjiri Ingale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Yash Satpute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Aditya Borkar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CDC1F7-2E2D-69A8-04CE-9D4304E27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156" y="5311818"/>
            <a:ext cx="939212" cy="11623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CA2F7A-443C-8C0E-FAB0-E85E2C6771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195" y="38583"/>
            <a:ext cx="2870529" cy="8282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B4F67F-169A-39F7-0000-0702875E3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459" y="5430624"/>
            <a:ext cx="1080796" cy="10807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A88BD4-D004-212A-EAFB-3E2F6582EF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79" y="5607611"/>
            <a:ext cx="1726163" cy="7731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F7F590-0020-43C2-7C7F-FB2E624D04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253" y="5673013"/>
            <a:ext cx="1735494" cy="7077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97608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0620F-A8D1-DE2E-32AC-47184CA1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EF3C3-04F1-59A5-3D3F-C90C5EC32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719" y="2791325"/>
            <a:ext cx="7729728" cy="310198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Excel</a:t>
            </a:r>
            <a:r>
              <a:rPr lang="en-IN" dirty="0"/>
              <a:t> → Data analysis &amp; PivotTables</a:t>
            </a:r>
            <a:br>
              <a:rPr lang="en-IN" dirty="0"/>
            </a:br>
            <a:r>
              <a:rPr lang="en-IN" b="1" dirty="0"/>
              <a:t>Tableau</a:t>
            </a:r>
            <a:r>
              <a:rPr lang="en-IN" dirty="0"/>
              <a:t> → Interactive visualization</a:t>
            </a:r>
            <a:br>
              <a:rPr lang="en-IN" dirty="0"/>
            </a:br>
            <a:r>
              <a:rPr lang="en-IN" b="1" dirty="0"/>
              <a:t>Power BI</a:t>
            </a:r>
            <a:r>
              <a:rPr lang="en-IN" dirty="0"/>
              <a:t> → Interactive dashboard &amp; KPI analysis</a:t>
            </a:r>
            <a:br>
              <a:rPr lang="en-IN" dirty="0"/>
            </a:br>
            <a:r>
              <a:rPr lang="en-IN" b="1" dirty="0"/>
              <a:t>SQL</a:t>
            </a:r>
            <a:r>
              <a:rPr lang="en-IN" dirty="0"/>
              <a:t> → Data querying &amp; KPI validation</a:t>
            </a:r>
          </a:p>
        </p:txBody>
      </p:sp>
    </p:spTree>
    <p:extLst>
      <p:ext uri="{BB962C8B-B14F-4D97-AF65-F5344CB8AC3E}">
        <p14:creationId xmlns:p14="http://schemas.microsoft.com/office/powerpoint/2010/main" val="1985506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3BD58-020E-3388-0F10-75AC347B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43597"/>
            <a:ext cx="7729728" cy="1188720"/>
          </a:xfrm>
        </p:spPr>
        <p:txBody>
          <a:bodyPr/>
          <a:lstStyle/>
          <a:p>
            <a:r>
              <a:rPr lang="en-IN" dirty="0"/>
              <a:t>Project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CF592-0E3D-FD2A-A628-1CFA91A5D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531" y="1567543"/>
            <a:ext cx="11159412" cy="4907903"/>
          </a:xfrm>
        </p:spPr>
        <p:txBody>
          <a:bodyPr/>
          <a:lstStyle/>
          <a:p>
            <a:r>
              <a:rPr lang="en-US" dirty="0"/>
              <a:t>The main objective of the project was to transform raw hotel booking data into meaningful business insights.</a:t>
            </a:r>
          </a:p>
          <a:p>
            <a:r>
              <a:rPr lang="en-US" b="1" dirty="0"/>
              <a:t>Analyze Revenue Performance</a:t>
            </a:r>
            <a:br>
              <a:rPr lang="en-US" dirty="0"/>
            </a:br>
            <a:r>
              <a:rPr lang="en-US" dirty="0"/>
              <a:t>Evaluate revenue generated across hotels, dates and booking channels.</a:t>
            </a:r>
          </a:p>
          <a:p>
            <a:r>
              <a:rPr lang="en-US" dirty="0"/>
              <a:t>🏨 </a:t>
            </a:r>
            <a:r>
              <a:rPr lang="en-US" b="1" dirty="0"/>
              <a:t>Measure Hotel Performance</a:t>
            </a:r>
            <a:br>
              <a:rPr lang="en-US" dirty="0"/>
            </a:br>
            <a:r>
              <a:rPr lang="en-US" dirty="0"/>
              <a:t>Analyze occupancy, ADR, RevPAR and other key performance indicators.</a:t>
            </a:r>
          </a:p>
          <a:p>
            <a:r>
              <a:rPr lang="en-US" dirty="0"/>
              <a:t>👥 </a:t>
            </a:r>
            <a:r>
              <a:rPr lang="en-US" b="1" dirty="0"/>
              <a:t>Understand Booking Behavior</a:t>
            </a:r>
            <a:br>
              <a:rPr lang="en-US" dirty="0"/>
            </a:br>
            <a:r>
              <a:rPr lang="en-US" dirty="0"/>
              <a:t>Identify trends across booking platforms and room categories.</a:t>
            </a:r>
          </a:p>
          <a:p>
            <a:r>
              <a:rPr lang="en-US" dirty="0"/>
              <a:t>❌ </a:t>
            </a:r>
            <a:r>
              <a:rPr lang="en-US" b="1" dirty="0"/>
              <a:t>Analyze Cancellations &amp; No-Shows</a:t>
            </a:r>
            <a:br>
              <a:rPr lang="en-US" dirty="0"/>
            </a:br>
            <a:r>
              <a:rPr lang="en-US" dirty="0"/>
              <a:t>Understand their impact on hotel revenue and operations.</a:t>
            </a:r>
          </a:p>
          <a:p>
            <a:r>
              <a:rPr lang="en-US" dirty="0"/>
              <a:t>💡 </a:t>
            </a:r>
            <a:r>
              <a:rPr lang="en-US" b="1" dirty="0"/>
              <a:t>Support Business Decisions</a:t>
            </a:r>
            <a:br>
              <a:rPr lang="en-US" dirty="0"/>
            </a:br>
            <a:r>
              <a:rPr lang="en-US" dirty="0"/>
              <a:t>Convert data into actionable insights and recommendations.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Enable data-driven decision-making through interactive dashboards and SQL-based analysis.</a:t>
            </a:r>
          </a:p>
        </p:txBody>
      </p:sp>
    </p:spTree>
    <p:extLst>
      <p:ext uri="{BB962C8B-B14F-4D97-AF65-F5344CB8AC3E}">
        <p14:creationId xmlns:p14="http://schemas.microsoft.com/office/powerpoint/2010/main" val="301386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2C64C-1264-471A-A6C9-73E9DD77A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4226"/>
            <a:ext cx="7729728" cy="1188720"/>
          </a:xfrm>
        </p:spPr>
        <p:txBody>
          <a:bodyPr/>
          <a:lstStyle/>
          <a:p>
            <a:r>
              <a:rPr lang="en-IN" dirty="0"/>
              <a:t>Dashboards &amp; SQL Analysis: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B9A98A-D779-9B49-A733-2800911A3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252" y="1584065"/>
            <a:ext cx="4950891" cy="257030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4CE56B-6656-93B6-1C76-CB33896FA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065" y="1584065"/>
            <a:ext cx="5283683" cy="2536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A732F2-E74F-CBFA-0822-51D3C4671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468" y="4310564"/>
            <a:ext cx="5630373" cy="24096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D2539C-66BD-C2CF-3D59-289B0720C113}"/>
              </a:ext>
            </a:extLst>
          </p:cNvPr>
          <p:cNvSpPr txBox="1"/>
          <p:nvPr/>
        </p:nvSpPr>
        <p:spPr>
          <a:xfrm>
            <a:off x="107481" y="4264704"/>
            <a:ext cx="26422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Excel Analysis</a:t>
            </a:r>
            <a:br>
              <a:rPr lang="en-IN" dirty="0"/>
            </a:br>
            <a:r>
              <a:rPr lang="en-IN" dirty="0"/>
              <a:t>PivotTables, KPIs &amp; trend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42B4D8-8790-4AFC-5EDD-4C3D548B3364}"/>
              </a:ext>
            </a:extLst>
          </p:cNvPr>
          <p:cNvSpPr txBox="1"/>
          <p:nvPr/>
        </p:nvSpPr>
        <p:spPr>
          <a:xfrm>
            <a:off x="128296" y="5660444"/>
            <a:ext cx="27082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Tableau Dashboard</a:t>
            </a:r>
            <a:br>
              <a:rPr lang="en-US" dirty="0"/>
            </a:br>
            <a:r>
              <a:rPr lang="en-US" dirty="0"/>
              <a:t>Interactive hotel performance visualization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47D26F-ABCE-B941-C22C-9D4DBCC0A304}"/>
              </a:ext>
            </a:extLst>
          </p:cNvPr>
          <p:cNvSpPr txBox="1"/>
          <p:nvPr/>
        </p:nvSpPr>
        <p:spPr>
          <a:xfrm>
            <a:off x="8994934" y="4500383"/>
            <a:ext cx="29228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Power BI Dashboard</a:t>
            </a:r>
            <a:br>
              <a:rPr lang="en-US" dirty="0"/>
            </a:br>
            <a:r>
              <a:rPr lang="en-US" dirty="0"/>
              <a:t>KPI monitoring &amp; interactive analysis</a:t>
            </a:r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66B310-F43D-5488-B246-2A19E4C159A6}"/>
              </a:ext>
            </a:extLst>
          </p:cNvPr>
          <p:cNvCxnSpPr/>
          <p:nvPr/>
        </p:nvCxnSpPr>
        <p:spPr>
          <a:xfrm flipV="1">
            <a:off x="10422293" y="4154376"/>
            <a:ext cx="0" cy="31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B4871F-32B2-7DC7-F13D-929121228122}"/>
              </a:ext>
            </a:extLst>
          </p:cNvPr>
          <p:cNvCxnSpPr/>
          <p:nvPr/>
        </p:nvCxnSpPr>
        <p:spPr>
          <a:xfrm>
            <a:off x="2383320" y="5822302"/>
            <a:ext cx="4531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4D7C70-1B0A-6C44-7836-D7F385D50713}"/>
              </a:ext>
            </a:extLst>
          </p:cNvPr>
          <p:cNvCxnSpPr/>
          <p:nvPr/>
        </p:nvCxnSpPr>
        <p:spPr>
          <a:xfrm flipV="1">
            <a:off x="2364658" y="4264704"/>
            <a:ext cx="0" cy="351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697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2350EA3-2DC4-4239-290B-9619C6F3D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471" y="709127"/>
            <a:ext cx="7018190" cy="51878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2D9590-5BE2-F53C-C787-074D863F95DC}"/>
              </a:ext>
            </a:extLst>
          </p:cNvPr>
          <p:cNvSpPr txBox="1"/>
          <p:nvPr/>
        </p:nvSpPr>
        <p:spPr>
          <a:xfrm>
            <a:off x="9626859" y="3591027"/>
            <a:ext cx="2400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SQL Analysis</a:t>
            </a:r>
            <a:br>
              <a:rPr lang="en-IN" dirty="0"/>
            </a:br>
            <a:r>
              <a:rPr lang="en-IN" dirty="0"/>
              <a:t>Data validation &amp; KPI calculations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C6999A-24EE-7EB8-828F-02A44789FF64}"/>
              </a:ext>
            </a:extLst>
          </p:cNvPr>
          <p:cNvCxnSpPr/>
          <p:nvPr/>
        </p:nvCxnSpPr>
        <p:spPr>
          <a:xfrm flipH="1">
            <a:off x="9162661" y="3881535"/>
            <a:ext cx="410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35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AD8ED-4141-5151-765A-CBB329940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185" y="171590"/>
            <a:ext cx="7729728" cy="1188720"/>
          </a:xfrm>
        </p:spPr>
        <p:txBody>
          <a:bodyPr/>
          <a:lstStyle/>
          <a:p>
            <a:r>
              <a:rPr lang="en-IN" dirty="0"/>
              <a:t>Challenges Faced: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E9750A-1E54-B259-06F5-61A1D408CD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524530"/>
              </p:ext>
            </p:extLst>
          </p:nvPr>
        </p:nvGraphicFramePr>
        <p:xfrm>
          <a:off x="1200579" y="1563904"/>
          <a:ext cx="9454940" cy="4426350"/>
        </p:xfrm>
        <a:graphic>
          <a:graphicData uri="http://schemas.openxmlformats.org/drawingml/2006/table">
            <a:tbl>
              <a:tblPr/>
              <a:tblGrid>
                <a:gridCol w="4727470">
                  <a:extLst>
                    <a:ext uri="{9D8B030D-6E8A-4147-A177-3AD203B41FA5}">
                      <a16:colId xmlns:a16="http://schemas.microsoft.com/office/drawing/2014/main" val="2823593025"/>
                    </a:ext>
                  </a:extLst>
                </a:gridCol>
                <a:gridCol w="4727470">
                  <a:extLst>
                    <a:ext uri="{9D8B030D-6E8A-4147-A177-3AD203B41FA5}">
                      <a16:colId xmlns:a16="http://schemas.microsoft.com/office/drawing/2014/main" val="2241581767"/>
                    </a:ext>
                  </a:extLst>
                </a:gridCol>
              </a:tblGrid>
              <a:tr h="384900">
                <a:tc>
                  <a:txBody>
                    <a:bodyPr/>
                    <a:lstStyle/>
                    <a:p>
                      <a:r>
                        <a:rPr lang="en-IN" b="1" dirty="0"/>
                        <a:t>Challenge</a:t>
                      </a:r>
                      <a:r>
                        <a:rPr lang="en-IN" dirty="0"/>
                        <a:t>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Solution</a:t>
                      </a:r>
                      <a:r>
                        <a:rPr lang="en-IN" dirty="0"/>
                        <a:t>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419647"/>
                  </a:ext>
                </a:extLst>
              </a:tr>
              <a:tr h="673575">
                <a:tc>
                  <a:txBody>
                    <a:bodyPr/>
                    <a:lstStyle/>
                    <a:p>
                      <a:r>
                        <a:rPr lang="en-IN" dirty="0"/>
                        <a:t>Inconsistent date formats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Converted and standardized dates into proper DATE 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384319"/>
                  </a:ext>
                </a:extLst>
              </a:tr>
              <a:tr h="673575">
                <a:tc>
                  <a:txBody>
                    <a:bodyPr/>
                    <a:lstStyle/>
                    <a:p>
                      <a:r>
                        <a:rPr lang="en-IN" dirty="0"/>
                        <a:t>Data relationship issues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Created appropriate relationships between dimension and fact 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865991"/>
                  </a:ext>
                </a:extLst>
              </a:tr>
              <a:tr h="673575">
                <a:tc>
                  <a:txBody>
                    <a:bodyPr/>
                    <a:lstStyle/>
                    <a:p>
                      <a:r>
                        <a:rPr lang="en-IN" dirty="0"/>
                        <a:t>KPI calculation inconsistencies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Validated calculations across Excel, Power BI and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726192"/>
                  </a:ext>
                </a:extLst>
              </a:tr>
              <a:tr h="673575">
                <a:tc>
                  <a:txBody>
                    <a:bodyPr/>
                    <a:lstStyle/>
                    <a:p>
                      <a:r>
                        <a:rPr lang="en-IN" dirty="0"/>
                        <a:t>Large booking dataset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Used PivotTables, SQL queries and aggregated tables for efficient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590634"/>
                  </a:ext>
                </a:extLst>
              </a:tr>
              <a:tr h="673575">
                <a:tc>
                  <a:txBody>
                    <a:bodyPr/>
                    <a:lstStyle/>
                    <a:p>
                      <a:r>
                        <a:rPr lang="en-IN" dirty="0"/>
                        <a:t>Dashboard filtering issues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Reviewed relationships and filter interactions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688867"/>
                  </a:ext>
                </a:extLst>
              </a:tr>
              <a:tr h="673575">
                <a:tc>
                  <a:txBody>
                    <a:bodyPr/>
                    <a:lstStyle/>
                    <a:p>
                      <a:r>
                        <a:rPr lang="en-IN" dirty="0"/>
                        <a:t>Data quality issues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Performed NULL and duplicate checks before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630282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7F3D992-0E29-D216-6E26-7BA0BC2386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4894028"/>
              </p:ext>
            </p:extLst>
          </p:nvPr>
        </p:nvGraphicFramePr>
        <p:xfrm>
          <a:off x="3666931" y="6128535"/>
          <a:ext cx="9454940" cy="640080"/>
        </p:xfrm>
        <a:graphic>
          <a:graphicData uri="http://schemas.openxmlformats.org/drawingml/2006/table">
            <a:tbl>
              <a:tblPr/>
              <a:tblGrid>
                <a:gridCol w="4727470">
                  <a:extLst>
                    <a:ext uri="{9D8B030D-6E8A-4147-A177-3AD203B41FA5}">
                      <a16:colId xmlns:a16="http://schemas.microsoft.com/office/drawing/2014/main" val="2823593025"/>
                    </a:ext>
                  </a:extLst>
                </a:gridCol>
                <a:gridCol w="4727470">
                  <a:extLst>
                    <a:ext uri="{9D8B030D-6E8A-4147-A177-3AD203B41FA5}">
                      <a16:colId xmlns:a16="http://schemas.microsoft.com/office/drawing/2014/main" val="2241581767"/>
                    </a:ext>
                  </a:extLst>
                </a:gridCol>
              </a:tblGrid>
              <a:tr h="242055">
                <a:tc>
                  <a:txBody>
                    <a:bodyPr/>
                    <a:lstStyle/>
                    <a:p>
                      <a:r>
                        <a:rPr lang="en-US" b="1" dirty="0"/>
                        <a:t>Key Learning:</a:t>
                      </a:r>
                      <a:r>
                        <a:rPr lang="en-US" dirty="0"/>
                        <a:t> Data preparation and validation were as important as visualization.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419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48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962E-BF23-7293-394E-9E55BB3EF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71590"/>
            <a:ext cx="7729728" cy="1188720"/>
          </a:xfrm>
        </p:spPr>
        <p:txBody>
          <a:bodyPr/>
          <a:lstStyle/>
          <a:p>
            <a:r>
              <a:rPr lang="en-IN" dirty="0"/>
              <a:t>Business Insights: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F84CAF9-C18F-BF65-6FF0-E43CA5E0B6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7492" y="1377264"/>
            <a:ext cx="11897015" cy="5309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💰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₹1.71 Billion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hotels generated approximately ₹1.71B in realized revenue during the analysis period.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🏨 Occupancy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57.87%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occupancy was approximately 58%, indicating significant scope to improve room utilization.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Cancellation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24.83%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Nearly one-fourth of bookings were cancelled, representing a potential revenue and capacity management concern.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⭐ Customer Rating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3.62 / 5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average rating indicates moderate customer satisfaction, leaving room for service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👥 No-Show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5.02%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No-shows accounted for around 5% of bookings and can negatively affect room availability and revenue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💵 RevPAR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₹7,347.15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RevPAR indicates the revenue generated per available room and provides a useful measure of overall room performance.</a:t>
            </a:r>
          </a:p>
        </p:txBody>
      </p:sp>
    </p:spTree>
    <p:extLst>
      <p:ext uri="{BB962C8B-B14F-4D97-AF65-F5344CB8AC3E}">
        <p14:creationId xmlns:p14="http://schemas.microsoft.com/office/powerpoint/2010/main" val="112553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EB768-94FE-5E6C-B9EE-31C13B01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34268"/>
            <a:ext cx="7729728" cy="1188720"/>
          </a:xfrm>
        </p:spPr>
        <p:txBody>
          <a:bodyPr/>
          <a:lstStyle/>
          <a:p>
            <a:r>
              <a:rPr lang="en-IN" dirty="0"/>
              <a:t>Recommendations: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8C3D7-5A51-97C0-AA5F-9F06DFF87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265" y="1483567"/>
            <a:ext cx="11709919" cy="5150497"/>
          </a:xfrm>
        </p:spPr>
        <p:txBody>
          <a:bodyPr>
            <a:normAutofit/>
          </a:bodyPr>
          <a:lstStyle/>
          <a:p>
            <a:r>
              <a:rPr lang="en-US" b="1" dirty="0"/>
              <a:t>1. Reduce Cancellation Rate</a:t>
            </a:r>
          </a:p>
          <a:p>
            <a:r>
              <a:rPr lang="en-US" dirty="0"/>
              <a:t>Introduce flexible but structured cancellation policies and incentives for confirmed stays.</a:t>
            </a:r>
          </a:p>
          <a:p>
            <a:r>
              <a:rPr lang="en-US" b="1" dirty="0"/>
              <a:t>2. Improve Occupancy</a:t>
            </a:r>
          </a:p>
          <a:p>
            <a:r>
              <a:rPr lang="en-US" dirty="0"/>
              <a:t>Use targeted promotions during low-demand periods and optimize room pricing based on demand.</a:t>
            </a:r>
          </a:p>
          <a:p>
            <a:r>
              <a:rPr lang="en-US" b="1" dirty="0"/>
              <a:t>3. Reduce No-Shows</a:t>
            </a:r>
          </a:p>
          <a:p>
            <a:r>
              <a:rPr lang="en-US" dirty="0"/>
              <a:t>Introduce booking confirmation reminders and advance-payment/deposit options for selected bookings.</a:t>
            </a:r>
          </a:p>
          <a:p>
            <a:r>
              <a:rPr lang="en-US" b="1" dirty="0"/>
              <a:t>4. Improve Customer Experience</a:t>
            </a:r>
          </a:p>
          <a:p>
            <a:r>
              <a:rPr lang="en-US" dirty="0"/>
              <a:t>Analyze low-rated stays and identify recurring service issues to improve customer satisfaction.</a:t>
            </a:r>
          </a:p>
          <a:p>
            <a:r>
              <a:rPr lang="en-US" b="1" dirty="0"/>
              <a:t>5. Optimize Booking Channels</a:t>
            </a:r>
          </a:p>
          <a:p>
            <a:r>
              <a:rPr lang="en-US" dirty="0"/>
              <a:t>Compare performance across booking platforms and focus marketing spend on channels generating stronger realized revenue.</a:t>
            </a:r>
          </a:p>
          <a:p>
            <a:r>
              <a:rPr lang="en-US" b="1" dirty="0"/>
              <a:t>6. Data-Driven Monitoring</a:t>
            </a:r>
          </a:p>
          <a:p>
            <a:r>
              <a:rPr lang="en-US" dirty="0"/>
              <a:t>Use Power BI/Tableau dashboards for continuous monitoring of revenue, occupancy, ADR, RevPAR and booking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9292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5C4D5-9695-07FA-E349-0600AA23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644202"/>
            <a:ext cx="7729728" cy="1188720"/>
          </a:xfrm>
        </p:spPr>
        <p:txBody>
          <a:bodyPr/>
          <a:lstStyle/>
          <a:p>
            <a:r>
              <a:rPr lang="en-IN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278887510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224</TotalTime>
  <Words>553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Parcel</vt:lpstr>
      <vt:lpstr>Hospitality Analysis Dashboard</vt:lpstr>
      <vt:lpstr>Tools Used:</vt:lpstr>
      <vt:lpstr>Project Objective:</vt:lpstr>
      <vt:lpstr>Dashboards &amp; SQL Analysis:</vt:lpstr>
      <vt:lpstr>PowerPoint Presentation</vt:lpstr>
      <vt:lpstr>Challenges Faced:</vt:lpstr>
      <vt:lpstr>Business Insights:</vt:lpstr>
      <vt:lpstr>Recommendations: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Yashhhaaaa Mundhe</dc:creator>
  <cp:lastModifiedBy>Yashhhaaaa Mundhe</cp:lastModifiedBy>
  <cp:revision>1</cp:revision>
  <dcterms:created xsi:type="dcterms:W3CDTF">2026-09-14T11:50:12Z</dcterms:created>
  <dcterms:modified xsi:type="dcterms:W3CDTF">2026-09-16T14:28:17Z</dcterms:modified>
</cp:coreProperties>
</file>